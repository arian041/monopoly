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1" r:id="rId10"/>
    <p:sldId id="272" r:id="rId11"/>
    <p:sldId id="262" r:id="rId12"/>
    <p:sldId id="263" r:id="rId13"/>
    <p:sldId id="270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37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0" y="0"/>
            <a:ext cx="64008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Box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7200"/>
            <a:ext cx="2834640" cy="42291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365760" y="640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566160" y="11887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Lord of Capitalism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Soutenance</a:t>
            </a:r>
            <a:r>
              <a:rPr lang="en-US" sz="18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Projet Java – 3iL </a:t>
            </a:r>
            <a:r>
              <a:rPr lang="en-US" sz="18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Ingénieurs</a:t>
            </a:r>
            <a:endParaRPr lang="en-US" sz="18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49B07DD-06C5-43EA-5AF7-B3B8A9A477AC}"/>
              </a:ext>
            </a:extLst>
          </p:cNvPr>
          <p:cNvSpPr txBox="1"/>
          <p:nvPr/>
        </p:nvSpPr>
        <p:spPr>
          <a:xfrm>
            <a:off x="3456432" y="4609886"/>
            <a:ext cx="206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8B4B3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Léo - Erwan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55448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4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" y="205740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55448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10712" y="205740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155448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91072" y="205740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répartition des tâches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3108960"/>
            <a:ext cx="2651760" cy="155448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97280" y="3108960"/>
            <a:ext cx="2651760" cy="54864"/>
          </a:xfrm>
          <a:prstGeom prst="rect">
            <a:avLst/>
          </a:prstGeom>
          <a:solidFill>
            <a:srgbClr val="5A8A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8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61872" y="393192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technique &amp; résolution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2651760" cy="155448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3108960"/>
            <a:ext cx="2651760" cy="54864"/>
          </a:xfrm>
          <a:prstGeom prst="rect">
            <a:avLst/>
          </a:prstGeom>
          <a:solidFill>
            <a:srgbClr val="B873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7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36592" y="393192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C4A0"/>
          </a:solidFill>
          <a:ln w="25400">
            <a:solidFill>
              <a:srgbClr val="8B4B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4B38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du projet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du projet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36118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572000" cy="54864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Lord of Capitalism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Monopoly thématique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 de l'univers du Seigneur des Anneaux.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Ruiner les autres joueurs et devenir le dernier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
</a:t>
            </a:r>
            <a:r>
              <a:rPr lang="en-US" sz="1300" dirty="0"/>
              <a:t>- </a:t>
            </a:r>
            <a:r>
              <a:rPr lang="en-US" sz="1300" b="1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à 8 joueurs</a:t>
            </a:r>
            <a:endParaRPr lang="en-US" sz="1300" dirty="0"/>
          </a:p>
          <a:p>
            <a:pPr marL="0" indent="0">
              <a:buNone/>
            </a:pPr>
            <a:endParaRPr lang="en-US" sz="1300" dirty="0">
              <a:solidFill>
                <a:srgbClr val="D4BF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Jouable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ligne de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console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Plateau </a:t>
            </a:r>
            <a:r>
              <a:rPr lang="en-US" sz="1300" dirty="0" err="1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revisité</a:t>
            </a:r>
            <a:r>
              <a:rPr lang="en-US" sz="1300" dirty="0">
                <a:solidFill>
                  <a:srgbClr val="D4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66360" y="1097280"/>
            <a:ext cx="3749040" cy="932688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166360" y="1097280"/>
            <a:ext cx="3749040" cy="64008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30952" y="1078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spéciales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0952" y="1456358"/>
            <a:ext cx="34198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&amp; Communauté : effets de Sauron, Gandalf, Aragorn…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0" y="2075688"/>
            <a:ext cx="3749040" cy="932688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166360" y="2075688"/>
            <a:ext cx="3749040" cy="64008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30952" y="2059159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30952" y="2559617"/>
            <a:ext cx="34198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Achat, maisons, hôtels, hypothèques, ventes entre joueurs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66360" y="3054096"/>
            <a:ext cx="3749040" cy="932688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66360" y="3054096"/>
            <a:ext cx="3749040" cy="64008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30952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dettes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30952" y="3439668"/>
            <a:ext cx="34198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faillite avec vente </a:t>
            </a:r>
            <a:r>
              <a:rPr lang="en-US" sz="1150" dirty="0" err="1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forcée</a:t>
            </a:r>
            <a:r>
              <a:rPr lang="en-US" sz="1150" dirty="0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66360" y="4032504"/>
            <a:ext cx="3749040" cy="932688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166360" y="4032504"/>
            <a:ext cx="3749040" cy="64008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330952" y="4032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4370832"/>
            <a:ext cx="34198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persistant des victoires sauvegardé en CSV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C4A0"/>
          </a:solidFill>
          <a:ln w="25400">
            <a:solidFill>
              <a:srgbClr val="8B4B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4B38"/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des classes</a:t>
            </a:r>
            <a:endParaRPr lang="en-US" sz="2600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172F70DF-50E1-ED5B-DAC0-46609C112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566" y="981115"/>
            <a:ext cx="6129270" cy="4162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8">
            <a:extLst>
              <a:ext uri="{FF2B5EF4-FFF2-40B4-BE49-F238E27FC236}">
                <a16:creationId xmlns:a16="http://schemas.microsoft.com/office/drawing/2014/main" id="{EB33C81D-F6BC-6584-36AF-56D03BE3F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039" b="-2"/>
          <a:stretch>
            <a:fillRect/>
          </a:stretch>
        </p:blipFill>
        <p:spPr>
          <a:xfrm>
            <a:off x="-92" y="128786"/>
            <a:ext cx="4503304" cy="4748014"/>
          </a:xfrm>
          <a:prstGeom prst="rect">
            <a:avLst/>
          </a:prstGeom>
          <a:noFill/>
        </p:spPr>
      </p:pic>
      <p:pic>
        <p:nvPicPr>
          <p:cNvPr id="5" name="Image 10">
            <a:extLst>
              <a:ext uri="{FF2B5EF4-FFF2-40B4-BE49-F238E27FC236}">
                <a16:creationId xmlns:a16="http://schemas.microsoft.com/office/drawing/2014/main" id="{1EE4D5AC-995E-55B6-A113-E2C9E4833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7" b="-4"/>
          <a:stretch>
            <a:fillRect/>
          </a:stretch>
        </p:blipFill>
        <p:spPr>
          <a:xfrm>
            <a:off x="4647696" y="128787"/>
            <a:ext cx="4352990" cy="2378566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584F337-6BE2-4063-0930-85C592C4C5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480" b="2"/>
          <a:stretch>
            <a:fillRect/>
          </a:stretch>
        </p:blipFill>
        <p:spPr>
          <a:xfrm>
            <a:off x="4647696" y="2636142"/>
            <a:ext cx="4339790" cy="20894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827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89E50A2-24CC-5FC0-3EF1-FFADFD02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899" y="2039228"/>
            <a:ext cx="5528102" cy="124114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503BED4-E859-B439-57A3-FBE10A65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158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517DD09-5EE2-50E7-C876-568EAC70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-9948"/>
            <a:ext cx="6925056" cy="518164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1575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C374C91-F44F-AD02-82F0-5C023C1A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7" y="0"/>
            <a:ext cx="7091348" cy="514350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8181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C4A0"/>
          </a:solidFill>
          <a:ln w="25400">
            <a:solidFill>
              <a:srgbClr val="8B4B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4B38"/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&amp; répartition des tâches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</a:t>
            </a:r>
            <a:r>
              <a:rPr lang="en-US" sz="2600" b="1" dirty="0" err="1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Prévisionnel</a:t>
            </a:r>
            <a:endParaRPr lang="en-US" sz="26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AA41A33E-220A-E5E8-D8B1-78506F8D6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960120"/>
            <a:ext cx="8412480" cy="409194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66A823-4908-1578-665E-D67A126DA37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F9DF3E-7668-66C5-7E0A-FE73B656E99A}"/>
              </a:ext>
            </a:extLst>
          </p:cNvPr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F40DCD-A435-EA4D-EAD9-503D6E80C9A6}"/>
              </a:ext>
            </a:extLst>
          </p:cNvPr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Final</a:t>
            </a:r>
            <a:endParaRPr lang="en-US" sz="26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AAE436-20CB-28B3-B981-52E1014F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960120"/>
            <a:ext cx="6486760" cy="415363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6614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C1810"/>
                </a:solidFill>
                <a:latin typeface="Georgia" pitchFamily="34" charset="0"/>
              </a:rPr>
              <a:t>Répartition</a:t>
            </a:r>
            <a:r>
              <a:rPr lang="en-US" sz="2600" b="1" dirty="0">
                <a:solidFill>
                  <a:srgbClr val="2C1810"/>
                </a:solidFill>
                <a:latin typeface="Georgia" pitchFamily="34" charset="0"/>
              </a:rPr>
              <a:t> des taches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" y="1298448"/>
            <a:ext cx="4160520" cy="2948940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88620" y="1300206"/>
            <a:ext cx="4160520" cy="64008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49328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4B38"/>
                </a:solidFill>
              </a:rPr>
              <a:t>Léo</a:t>
            </a:r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Joueur,  Case, Plateau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propriétés &amp;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dettes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des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faillites</a:t>
            </a:r>
            <a:endParaRPr lang="en-US" sz="1200" dirty="0">
              <a:solidFill>
                <a:srgbClr val="6B5A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persistant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(CSV)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de bugs &amp; tests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300206"/>
            <a:ext cx="4160520" cy="2947182"/>
          </a:xfrm>
          <a:prstGeom prst="rect">
            <a:avLst/>
          </a:prstGeom>
          <a:solidFill>
            <a:srgbClr val="F5EFE0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00600" y="1300206"/>
            <a:ext cx="4160520" cy="64008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0308" y="149750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4B38"/>
                </a:solidFill>
              </a:rPr>
              <a:t>Erwan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Chance &amp;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</a:t>
            </a:r>
            <a:endParaRPr lang="en-US" sz="1200" dirty="0">
              <a:solidFill>
                <a:srgbClr val="6B5A4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Banque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prison (Mordor)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tirage de </a:t>
            </a:r>
            <a:r>
              <a:rPr lang="en-US" sz="1200" dirty="0" err="1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</a:t>
            </a: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C4A0"/>
          </a:solidFill>
          <a:ln w="25400">
            <a:solidFill>
              <a:srgbClr val="8B4B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4B38"/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Blocage technique &amp; résolution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Blocages</a:t>
            </a: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technique rencontré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solidFill>
            <a:srgbClr val="8B4B38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1280160"/>
          </a:xfrm>
          <a:prstGeom prst="rect">
            <a:avLst/>
          </a:prstGeom>
          <a:solidFill>
            <a:srgbClr val="9B3A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828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gestion des payments, des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dettes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des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faillites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8B4B38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4864" cy="1005840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82321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doubles et les triples aux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ainsi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tirage 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Mr.monopoly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8412480" cy="1097280"/>
          </a:xfrm>
          <a:prstGeom prst="rect">
            <a:avLst/>
          </a:prstGeom>
          <a:solidFill>
            <a:srgbClr val="8B4B38"/>
          </a:solidFill>
          <a:ln/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54864" cy="1097280"/>
          </a:xfrm>
          <a:prstGeom prst="rect">
            <a:avLst/>
          </a:prstGeom>
          <a:solidFill>
            <a:srgbClr val="5A8A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3EBE438-29F8-7AE4-1692-A8615386D8C1}"/>
              </a:ext>
            </a:extLst>
          </p:cNvPr>
          <p:cNvSpPr/>
          <p:nvPr/>
        </p:nvSpPr>
        <p:spPr>
          <a:xfrm>
            <a:off x="420624" y="39090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Cases, de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</a:t>
            </a:r>
            <a:r>
              <a:rPr lang="en-US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C4A0"/>
          </a:solidFill>
          <a:ln w="25400">
            <a:solidFill>
              <a:srgbClr val="8B4B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4B38"/>
                </a:solidFill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Axes d'amélioration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Axes d'amélioration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965960" y="1234440"/>
            <a:ext cx="960120" cy="256032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965960" y="1234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Fonctionnel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70579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un menu (Visual Studio)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960120" cy="256032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234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Technique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168908"/>
            <a:ext cx="1866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</a:t>
            </a:r>
            <a:r>
              <a:rPr lang="en-US" sz="1300" b="1" dirty="0" err="1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multijoueur</a:t>
            </a: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de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jouer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14300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72200" y="1143000"/>
            <a:ext cx="2743200" cy="54864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818120" y="1234440"/>
            <a:ext cx="960120" cy="256032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818120" y="1234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Fonctionnel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1207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de jeu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modes personnalisés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3108960"/>
            <a:ext cx="2743200" cy="54864"/>
          </a:xfrm>
          <a:prstGeom prst="rect">
            <a:avLst/>
          </a:prstGeom>
          <a:solidFill>
            <a:srgbClr val="5A8A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965960" y="3200400"/>
            <a:ext cx="960120" cy="256032"/>
          </a:xfrm>
          <a:prstGeom prst="rect">
            <a:avLst/>
          </a:prstGeom>
          <a:solidFill>
            <a:srgbClr val="5A8A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965960" y="32004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Technique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136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partie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9090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</a:t>
            </a: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l'état du jeu pour reprendre une partie interrompue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10896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46120" y="3108960"/>
            <a:ext cx="2743200" cy="54864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92040" y="3200400"/>
            <a:ext cx="960120" cy="256032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92040" y="32004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Technique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19856" y="3176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adversaire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0" y="3901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joueur bot avec stratégie d'achat automatique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3108960"/>
            <a:ext cx="2743200" cy="1783080"/>
          </a:xfrm>
          <a:prstGeom prst="rect">
            <a:avLst/>
          </a:prstGeom>
          <a:solidFill>
            <a:srgbClr val="2C1810"/>
          </a:solidFill>
          <a:ln w="1270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2C181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172200" y="3108960"/>
            <a:ext cx="2743200" cy="54864"/>
          </a:xfrm>
          <a:prstGeom prst="rect">
            <a:avLst/>
          </a:prstGeom>
          <a:solidFill>
            <a:srgbClr val="B873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818120" y="3200400"/>
            <a:ext cx="960120" cy="256032"/>
          </a:xfrm>
          <a:prstGeom prst="rect">
            <a:avLst/>
          </a:prstGeom>
          <a:solidFill>
            <a:srgbClr val="B873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818120" y="32004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0"/>
                </a:solidFill>
              </a:rPr>
              <a:t>Fonctionnel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3176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Ambiance sonore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55080" y="38602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sons et de la musique thématique Seigneur des Anneaux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200400" y="0"/>
            <a:ext cx="64008" cy="5143500"/>
          </a:xfrm>
          <a:prstGeom prst="rect">
            <a:avLst/>
          </a:prstGeom>
          <a:solidFill>
            <a:srgbClr val="8B4B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Box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5740"/>
            <a:ext cx="2834640" cy="42291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274320" y="4400000"/>
            <a:ext cx="265176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LORD OF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kern="0" spc="200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CAPITALISM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1887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écoute !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4023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of Capitalism  •  Projet Java  •  3iL Ingénieurs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C4A32"/>
      </a:dk2>
      <a:lt2>
        <a:srgbClr val="F0E8D6"/>
      </a:lt2>
      <a:accent1>
        <a:srgbClr val="8B6914"/>
      </a:accent1>
      <a:accent2>
        <a:srgbClr val="9B4A30"/>
      </a:accent2>
      <a:accent3>
        <a:srgbClr val="7A8A7A"/>
      </a:accent3>
      <a:accent4>
        <a:srgbClr val="C4A050"/>
      </a:accent4>
      <a:accent5>
        <a:srgbClr val="5A7A8A"/>
      </a:accent5>
      <a:accent6>
        <a:srgbClr val="5A8A5A"/>
      </a:accent6>
      <a:hlink>
        <a:srgbClr val="6B4A2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C181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373</Words>
  <Application>Microsoft Office PowerPoint</Application>
  <PresentationFormat>Affichage à l'écran (16:9)</PresentationFormat>
  <Paragraphs>99</Paragraphs>
  <Slides>19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Lord of Capitalism – Soutenance Java</dc:title>
  <dc:subject>PptxGenJS Presentation</dc:subject>
  <dc:creator>PptxGenJS</dc:creator>
  <cp:lastModifiedBy>Léo Chauchet berlureau</cp:lastModifiedBy>
  <cp:revision>9</cp:revision>
  <dcterms:created xsi:type="dcterms:W3CDTF">2026-05-27T18:33:42Z</dcterms:created>
  <dcterms:modified xsi:type="dcterms:W3CDTF">2026-05-28T21:23:48Z</dcterms:modified>
</cp:coreProperties>
</file>